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youtube.com/watch?v=Zq1QDAkoRzU" TargetMode="Externa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t>Customer strategy and trial recommendations</a:t>
            </a:r>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t>August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9808" y="301752"/>
            <a:ext cx="10469880" cy="530352"/>
          </a:xfrm>
          <a:prstGeom prst="rect">
            <a:avLst/>
          </a:prstGeom>
          <a:noFill/>
        </p:spPr>
        <p:txBody>
          <a:bodyPr wrap="square" anchor="t">
            <a:spAutoFit/>
          </a:bodyPr>
          <a:lstStyle/>
          <a:p>
            <a:pPr algn="l"/>
            <a:r>
              <a:rPr sz="2500" b="1">
                <a:solidFill>
                  <a:srgbClr val="000000"/>
                </a:solidFill>
                <a:latin typeface="Arial"/>
              </a:rPr>
              <a:t>Grow chips through targeted activation and selective trial rollout</a:t>
            </a:r>
          </a:p>
        </p:txBody>
      </p:sp>
      <p:sp>
        <p:nvSpPr>
          <p:cNvPr id="3" name="TextBox 2"/>
          <p:cNvSpPr txBox="1"/>
          <p:nvPr/>
        </p:nvSpPr>
        <p:spPr>
          <a:xfrm>
            <a:off x="758952" y="841248"/>
            <a:ext cx="10424160" cy="320040"/>
          </a:xfrm>
          <a:prstGeom prst="rect">
            <a:avLst/>
          </a:prstGeom>
          <a:noFill/>
        </p:spPr>
        <p:txBody>
          <a:bodyPr wrap="square" anchor="t">
            <a:spAutoFit/>
          </a:bodyPr>
          <a:lstStyle/>
          <a:p>
            <a:pPr algn="l"/>
            <a:r>
              <a:rPr sz="1050" b="0">
                <a:solidFill>
                  <a:srgbClr val="5A6066"/>
                </a:solidFill>
                <a:latin typeface="Arial"/>
              </a:rPr>
              <a:t>Answer first: three actions for the next six months</a:t>
            </a:r>
          </a:p>
        </p:txBody>
      </p:sp>
      <p:sp>
        <p:nvSpPr>
          <p:cNvPr id="4" name="Rounded Rectangle 3"/>
          <p:cNvSpPr/>
          <p:nvPr/>
        </p:nvSpPr>
        <p:spPr>
          <a:xfrm>
            <a:off x="594360" y="1371600"/>
            <a:ext cx="3383280" cy="41605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71600"/>
            <a:ext cx="73152" cy="4160520"/>
          </a:xfrm>
          <a:prstGeom prst="rect">
            <a:avLst/>
          </a:prstGeom>
          <a:solidFill>
            <a:srgbClr val="007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499616"/>
            <a:ext cx="3035808" cy="384048"/>
          </a:xfrm>
          <a:prstGeom prst="rect">
            <a:avLst/>
          </a:prstGeom>
          <a:noFill/>
        </p:spPr>
        <p:txBody>
          <a:bodyPr wrap="square" anchor="t">
            <a:spAutoFit/>
          </a:bodyPr>
          <a:lstStyle/>
          <a:p>
            <a:pPr algn="l"/>
            <a:r>
              <a:rPr sz="2000" b="1">
                <a:solidFill>
                  <a:srgbClr val="007A80"/>
                </a:solidFill>
                <a:latin typeface="Arial"/>
              </a:rPr>
              <a:t>01</a:t>
            </a:r>
          </a:p>
        </p:txBody>
      </p:sp>
      <p:sp>
        <p:nvSpPr>
          <p:cNvPr id="7" name="TextBox 6"/>
          <p:cNvSpPr txBox="1"/>
          <p:nvPr/>
        </p:nvSpPr>
        <p:spPr>
          <a:xfrm>
            <a:off x="795528" y="1911095"/>
            <a:ext cx="3035808" cy="347472"/>
          </a:xfrm>
          <a:prstGeom prst="rect">
            <a:avLst/>
          </a:prstGeom>
          <a:noFill/>
        </p:spPr>
        <p:txBody>
          <a:bodyPr wrap="square" anchor="t">
            <a:spAutoFit/>
          </a:bodyPr>
          <a:lstStyle/>
          <a:p>
            <a:pPr algn="l"/>
            <a:r>
              <a:rPr sz="1200" b="1">
                <a:solidFill>
                  <a:srgbClr val="000000"/>
                </a:solidFill>
                <a:latin typeface="Arial"/>
              </a:rPr>
              <a:t>Win the growth segment</a:t>
            </a:r>
          </a:p>
        </p:txBody>
      </p:sp>
      <p:sp>
        <p:nvSpPr>
          <p:cNvPr id="8" name="TextBox 7"/>
          <p:cNvSpPr txBox="1"/>
          <p:nvPr/>
        </p:nvSpPr>
        <p:spPr>
          <a:xfrm>
            <a:off x="795528" y="2267712"/>
            <a:ext cx="3035808" cy="3172968"/>
          </a:xfrm>
          <a:prstGeom prst="rect">
            <a:avLst/>
          </a:prstGeom>
          <a:noFill/>
        </p:spPr>
        <p:txBody>
          <a:bodyPr wrap="square" anchor="t">
            <a:spAutoFit/>
          </a:bodyPr>
          <a:lstStyle/>
          <a:p>
            <a:pPr algn="l"/>
            <a:r>
              <a:rPr sz="950" b="0">
                <a:solidFill>
                  <a:srgbClr val="5A6066"/>
                </a:solidFill>
                <a:latin typeface="Arial"/>
              </a:rPr>
              <a:t>Target Mainstream young singles/couples with brand-led secondary displays. Prioritise Tyrrells and Twisties, with added visibility in the lead-up to Christmas.</a:t>
            </a:r>
          </a:p>
        </p:txBody>
      </p:sp>
      <p:sp>
        <p:nvSpPr>
          <p:cNvPr id="9" name="Rounded Rectangle 8"/>
          <p:cNvSpPr/>
          <p:nvPr/>
        </p:nvSpPr>
        <p:spPr>
          <a:xfrm>
            <a:off x="4187952" y="1371600"/>
            <a:ext cx="3383280" cy="41605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87952" y="1371600"/>
            <a:ext cx="73152" cy="416052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499616"/>
            <a:ext cx="3035808" cy="384048"/>
          </a:xfrm>
          <a:prstGeom prst="rect">
            <a:avLst/>
          </a:prstGeom>
          <a:noFill/>
        </p:spPr>
        <p:txBody>
          <a:bodyPr wrap="square" anchor="t">
            <a:spAutoFit/>
          </a:bodyPr>
          <a:lstStyle/>
          <a:p>
            <a:pPr algn="l"/>
            <a:r>
              <a:rPr sz="2000" b="1">
                <a:solidFill>
                  <a:srgbClr val="2F6B8A"/>
                </a:solidFill>
                <a:latin typeface="Arial"/>
              </a:rPr>
              <a:t>02</a:t>
            </a:r>
          </a:p>
        </p:txBody>
      </p:sp>
      <p:sp>
        <p:nvSpPr>
          <p:cNvPr id="12" name="TextBox 11"/>
          <p:cNvSpPr txBox="1"/>
          <p:nvPr/>
        </p:nvSpPr>
        <p:spPr>
          <a:xfrm>
            <a:off x="4389120" y="1911095"/>
            <a:ext cx="3035808" cy="347472"/>
          </a:xfrm>
          <a:prstGeom prst="rect">
            <a:avLst/>
          </a:prstGeom>
          <a:noFill/>
        </p:spPr>
        <p:txBody>
          <a:bodyPr wrap="square" anchor="t">
            <a:spAutoFit/>
          </a:bodyPr>
          <a:lstStyle/>
          <a:p>
            <a:pPr algn="l"/>
            <a:r>
              <a:rPr sz="1200" b="1">
                <a:solidFill>
                  <a:srgbClr val="000000"/>
                </a:solidFill>
                <a:latin typeface="Arial"/>
              </a:rPr>
              <a:t>Protect the volume base</a:t>
            </a:r>
          </a:p>
        </p:txBody>
      </p:sp>
      <p:sp>
        <p:nvSpPr>
          <p:cNvPr id="13" name="TextBox 12"/>
          <p:cNvSpPr txBox="1"/>
          <p:nvPr/>
        </p:nvSpPr>
        <p:spPr>
          <a:xfrm>
            <a:off x="4389120" y="2267712"/>
            <a:ext cx="3035808" cy="3172968"/>
          </a:xfrm>
          <a:prstGeom prst="rect">
            <a:avLst/>
          </a:prstGeom>
          <a:noFill/>
        </p:spPr>
        <p:txBody>
          <a:bodyPr wrap="square" anchor="t">
            <a:spAutoFit/>
          </a:bodyPr>
          <a:lstStyle/>
          <a:p>
            <a:pPr algn="l"/>
            <a:r>
              <a:rPr sz="950" b="0">
                <a:solidFill>
                  <a:srgbClr val="5A6066"/>
                </a:solidFill>
                <a:latin typeface="Arial"/>
              </a:rPr>
              <a:t>Use value bundles for older and young families. Avoid blanket discounting: the target segment already pays a higher unit price.</a:t>
            </a:r>
          </a:p>
        </p:txBody>
      </p:sp>
      <p:sp>
        <p:nvSpPr>
          <p:cNvPr id="14" name="Rounded Rectangle 13"/>
          <p:cNvSpPr/>
          <p:nvPr/>
        </p:nvSpPr>
        <p:spPr>
          <a:xfrm>
            <a:off x="7772400" y="1371600"/>
            <a:ext cx="3383280" cy="41605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1371600"/>
            <a:ext cx="73152" cy="41605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3568" y="1499616"/>
            <a:ext cx="3035808" cy="384048"/>
          </a:xfrm>
          <a:prstGeom prst="rect">
            <a:avLst/>
          </a:prstGeom>
          <a:noFill/>
        </p:spPr>
        <p:txBody>
          <a:bodyPr wrap="square" anchor="t">
            <a:spAutoFit/>
          </a:bodyPr>
          <a:lstStyle/>
          <a:p>
            <a:pPr algn="l"/>
            <a:r>
              <a:rPr sz="2000" b="1">
                <a:solidFill>
                  <a:srgbClr val="E67E22"/>
                </a:solidFill>
                <a:latin typeface="Arial"/>
              </a:rPr>
              <a:t>03</a:t>
            </a:r>
          </a:p>
        </p:txBody>
      </p:sp>
      <p:sp>
        <p:nvSpPr>
          <p:cNvPr id="17" name="TextBox 16"/>
          <p:cNvSpPr txBox="1"/>
          <p:nvPr/>
        </p:nvSpPr>
        <p:spPr>
          <a:xfrm>
            <a:off x="7973568" y="1911095"/>
            <a:ext cx="3035808" cy="347472"/>
          </a:xfrm>
          <a:prstGeom prst="rect">
            <a:avLst/>
          </a:prstGeom>
          <a:noFill/>
        </p:spPr>
        <p:txBody>
          <a:bodyPr wrap="square" anchor="t">
            <a:spAutoFit/>
          </a:bodyPr>
          <a:lstStyle/>
          <a:p>
            <a:pPr algn="l"/>
            <a:r>
              <a:rPr sz="1200" b="1">
                <a:solidFill>
                  <a:srgbClr val="000000"/>
                </a:solidFill>
                <a:latin typeface="Arial"/>
              </a:rPr>
              <a:t>Scale proven layouts</a:t>
            </a:r>
          </a:p>
        </p:txBody>
      </p:sp>
      <p:sp>
        <p:nvSpPr>
          <p:cNvPr id="18" name="TextBox 17"/>
          <p:cNvSpPr txBox="1"/>
          <p:nvPr/>
        </p:nvSpPr>
        <p:spPr>
          <a:xfrm>
            <a:off x="7973568" y="2267712"/>
            <a:ext cx="3035808" cy="3172968"/>
          </a:xfrm>
          <a:prstGeom prst="rect">
            <a:avLst/>
          </a:prstGeom>
          <a:noFill/>
        </p:spPr>
        <p:txBody>
          <a:bodyPr wrap="square" anchor="t">
            <a:spAutoFit/>
          </a:bodyPr>
          <a:lstStyle/>
          <a:p>
            <a:pPr algn="l"/>
            <a:r>
              <a:rPr sz="950" b="0">
                <a:solidFill>
                  <a:srgbClr val="5A6066"/>
                </a:solidFill>
                <a:latin typeface="Arial"/>
              </a:rPr>
              <a:t>Roll out the trial design in stores resembling 77 and 88. Investigate store 86 execution and pricing before another controlled test.</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t>Category growth strategy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9808" y="301752"/>
            <a:ext cx="10469880" cy="530352"/>
          </a:xfrm>
          <a:prstGeom prst="rect">
            <a:avLst/>
          </a:prstGeom>
          <a:noFill/>
        </p:spPr>
        <p:txBody>
          <a:bodyPr wrap="square" anchor="t">
            <a:spAutoFit/>
          </a:bodyPr>
          <a:lstStyle/>
          <a:p>
            <a:pPr algn="l"/>
            <a:r>
              <a:rPr sz="2500" b="1">
                <a:solidFill>
                  <a:srgbClr val="000000"/>
                </a:solidFill>
                <a:latin typeface="Arial"/>
              </a:rPr>
              <a:t>Three customer pools account for one-quarter of category sales</a:t>
            </a:r>
          </a:p>
        </p:txBody>
      </p:sp>
      <p:sp>
        <p:nvSpPr>
          <p:cNvPr id="3" name="TextBox 2"/>
          <p:cNvSpPr txBox="1"/>
          <p:nvPr/>
        </p:nvSpPr>
        <p:spPr>
          <a:xfrm>
            <a:off x="758952" y="841248"/>
            <a:ext cx="10424160" cy="320040"/>
          </a:xfrm>
          <a:prstGeom prst="rect">
            <a:avLst/>
          </a:prstGeom>
          <a:noFill/>
        </p:spPr>
        <p:txBody>
          <a:bodyPr wrap="square" anchor="t">
            <a:spAutoFit/>
          </a:bodyPr>
          <a:lstStyle/>
          <a:p>
            <a:pPr algn="l"/>
            <a:r>
              <a:rPr sz="1050" b="0">
                <a:solidFill>
                  <a:srgbClr val="5A6066"/>
                </a:solidFill>
                <a:latin typeface="Arial"/>
              </a:rPr>
              <a:t>Budget older families lead sales; Mainstream young singles/couples are the clearest growth target</a:t>
            </a:r>
          </a:p>
        </p:txBody>
      </p:sp>
      <p:pic>
        <p:nvPicPr>
          <p:cNvPr id="4" name="Picture 3" descr="segment_sales.png"/>
          <p:cNvPicPr>
            <a:picLocks noChangeAspect="1"/>
          </p:cNvPicPr>
          <p:nvPr/>
        </p:nvPicPr>
        <p:blipFill>
          <a:blip r:embed="rId3"/>
          <a:stretch>
            <a:fillRect/>
          </a:stretch>
        </p:blipFill>
        <p:spPr>
          <a:xfrm>
            <a:off x="868680" y="1234440"/>
            <a:ext cx="6537960" cy="4526280"/>
          </a:xfrm>
          <a:prstGeom prst="rect">
            <a:avLst/>
          </a:prstGeom>
        </p:spPr>
      </p:pic>
      <p:sp>
        <p:nvSpPr>
          <p:cNvPr id="5" name="Rounded Rectangle 4"/>
          <p:cNvSpPr/>
          <p:nvPr/>
        </p:nvSpPr>
        <p:spPr>
          <a:xfrm>
            <a:off x="7726679" y="1325880"/>
            <a:ext cx="3246120" cy="11887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26679" y="1325880"/>
            <a:ext cx="73152" cy="118872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27848" y="1481328"/>
            <a:ext cx="2898648" cy="384048"/>
          </a:xfrm>
          <a:prstGeom prst="rect">
            <a:avLst/>
          </a:prstGeom>
          <a:noFill/>
        </p:spPr>
        <p:txBody>
          <a:bodyPr wrap="square" anchor="t">
            <a:spAutoFit/>
          </a:bodyPr>
          <a:lstStyle/>
          <a:p>
            <a:pPr algn="l"/>
            <a:r>
              <a:rPr sz="1300" b="1">
                <a:solidFill>
                  <a:srgbClr val="2F6B8A"/>
                </a:solidFill>
                <a:latin typeface="Arial"/>
              </a:rPr>
              <a:t>Largest sales pool</a:t>
            </a:r>
          </a:p>
        </p:txBody>
      </p:sp>
      <p:sp>
        <p:nvSpPr>
          <p:cNvPr id="8" name="TextBox 7"/>
          <p:cNvSpPr txBox="1"/>
          <p:nvPr/>
        </p:nvSpPr>
        <p:spPr>
          <a:xfrm>
            <a:off x="7927848" y="1920240"/>
            <a:ext cx="2898648" cy="475488"/>
          </a:xfrm>
          <a:prstGeom prst="rect">
            <a:avLst/>
          </a:prstGeom>
          <a:noFill/>
        </p:spPr>
        <p:txBody>
          <a:bodyPr wrap="square" anchor="t">
            <a:spAutoFit/>
          </a:bodyPr>
          <a:lstStyle/>
          <a:p>
            <a:pPr algn="l"/>
            <a:r>
              <a:rPr sz="1000" b="0">
                <a:solidFill>
                  <a:srgbClr val="5A6066"/>
                </a:solidFill>
                <a:latin typeface="Arial"/>
              </a:rPr>
              <a:t>Budget older families: $157k, or 8.7% of annual chip sales.</a:t>
            </a:r>
          </a:p>
        </p:txBody>
      </p:sp>
      <p:sp>
        <p:nvSpPr>
          <p:cNvPr id="9" name="Rounded Rectangle 8"/>
          <p:cNvSpPr/>
          <p:nvPr/>
        </p:nvSpPr>
        <p:spPr>
          <a:xfrm>
            <a:off x="7726679" y="2761488"/>
            <a:ext cx="3246120" cy="11887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26679" y="2761488"/>
            <a:ext cx="73152" cy="1188720"/>
          </a:xfrm>
          <a:prstGeom prst="rect">
            <a:avLst/>
          </a:prstGeom>
          <a:solidFill>
            <a:srgbClr val="007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2916936"/>
            <a:ext cx="2898648" cy="384048"/>
          </a:xfrm>
          <a:prstGeom prst="rect">
            <a:avLst/>
          </a:prstGeom>
          <a:noFill/>
        </p:spPr>
        <p:txBody>
          <a:bodyPr wrap="square" anchor="t">
            <a:spAutoFit/>
          </a:bodyPr>
          <a:lstStyle/>
          <a:p>
            <a:pPr algn="l"/>
            <a:r>
              <a:rPr sz="1300" b="1">
                <a:solidFill>
                  <a:srgbClr val="007A80"/>
                </a:solidFill>
                <a:latin typeface="Arial"/>
              </a:rPr>
              <a:t>Growth target</a:t>
            </a:r>
          </a:p>
        </p:txBody>
      </p:sp>
      <p:sp>
        <p:nvSpPr>
          <p:cNvPr id="12" name="TextBox 11"/>
          <p:cNvSpPr txBox="1"/>
          <p:nvPr/>
        </p:nvSpPr>
        <p:spPr>
          <a:xfrm>
            <a:off x="7927848" y="3355848"/>
            <a:ext cx="2898648" cy="475488"/>
          </a:xfrm>
          <a:prstGeom prst="rect">
            <a:avLst/>
          </a:prstGeom>
          <a:noFill/>
        </p:spPr>
        <p:txBody>
          <a:bodyPr wrap="square" anchor="t">
            <a:spAutoFit/>
          </a:bodyPr>
          <a:lstStyle/>
          <a:p>
            <a:pPr algn="l"/>
            <a:r>
              <a:rPr sz="1000" b="0">
                <a:solidFill>
                  <a:srgbClr val="5A6066"/>
                </a:solidFill>
                <a:latin typeface="Arial"/>
              </a:rPr>
              <a:t>Mainstream young singles/couples: $148k and the largest buyer base.</a:t>
            </a:r>
          </a:p>
        </p:txBody>
      </p:sp>
      <p:sp>
        <p:nvSpPr>
          <p:cNvPr id="13" name="Rounded Rectangle 12"/>
          <p:cNvSpPr/>
          <p:nvPr/>
        </p:nvSpPr>
        <p:spPr>
          <a:xfrm>
            <a:off x="7726679" y="4197096"/>
            <a:ext cx="3246120" cy="11887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26679" y="4197096"/>
            <a:ext cx="73152" cy="11887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7848" y="4352544"/>
            <a:ext cx="2898648" cy="384048"/>
          </a:xfrm>
          <a:prstGeom prst="rect">
            <a:avLst/>
          </a:prstGeom>
          <a:noFill/>
        </p:spPr>
        <p:txBody>
          <a:bodyPr wrap="square" anchor="t">
            <a:spAutoFit/>
          </a:bodyPr>
          <a:lstStyle/>
          <a:p>
            <a:pPr algn="l"/>
            <a:r>
              <a:rPr sz="1300" b="1">
                <a:solidFill>
                  <a:srgbClr val="E67E22"/>
                </a:solidFill>
                <a:latin typeface="Arial"/>
              </a:rPr>
              <a:t>Seasonal opportunity</a:t>
            </a:r>
          </a:p>
        </p:txBody>
      </p:sp>
      <p:sp>
        <p:nvSpPr>
          <p:cNvPr id="16" name="TextBox 15"/>
          <p:cNvSpPr txBox="1"/>
          <p:nvPr/>
        </p:nvSpPr>
        <p:spPr>
          <a:xfrm>
            <a:off x="7927848" y="4791456"/>
            <a:ext cx="2898648" cy="475488"/>
          </a:xfrm>
          <a:prstGeom prst="rect">
            <a:avLst/>
          </a:prstGeom>
          <a:noFill/>
        </p:spPr>
        <p:txBody>
          <a:bodyPr wrap="square" anchor="t">
            <a:spAutoFit/>
          </a:bodyPr>
          <a:lstStyle/>
          <a:p>
            <a:pPr algn="l"/>
            <a:r>
              <a:rPr sz="1000" b="0">
                <a:solidFill>
                  <a:srgbClr val="5A6066"/>
                </a:solidFill>
                <a:latin typeface="Arial"/>
              </a:rPr>
              <a:t>Transactions rise before Christmas; use gondola ends or promotional displays ahead of the holiday closure.</a:t>
            </a: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9808" y="301752"/>
            <a:ext cx="10469880" cy="530352"/>
          </a:xfrm>
          <a:prstGeom prst="rect">
            <a:avLst/>
          </a:prstGeom>
          <a:noFill/>
        </p:spPr>
        <p:txBody>
          <a:bodyPr wrap="square" anchor="t">
            <a:spAutoFit/>
          </a:bodyPr>
          <a:lstStyle/>
          <a:p>
            <a:pPr algn="l"/>
            <a:r>
              <a:rPr sz="2500" b="1">
                <a:solidFill>
                  <a:srgbClr val="000000"/>
                </a:solidFill>
                <a:latin typeface="Arial"/>
              </a:rPr>
              <a:t>Family volume and young-mainstream pricing drive category spend</a:t>
            </a:r>
          </a:p>
        </p:txBody>
      </p:sp>
      <p:sp>
        <p:nvSpPr>
          <p:cNvPr id="3" name="TextBox 2"/>
          <p:cNvSpPr txBox="1"/>
          <p:nvPr/>
        </p:nvSpPr>
        <p:spPr>
          <a:xfrm>
            <a:off x="758952" y="841248"/>
            <a:ext cx="10424160" cy="320040"/>
          </a:xfrm>
          <a:prstGeom prst="rect">
            <a:avLst/>
          </a:prstGeom>
          <a:noFill/>
        </p:spPr>
        <p:txBody>
          <a:bodyPr wrap="square" anchor="t">
            <a:spAutoFit/>
          </a:bodyPr>
          <a:lstStyle/>
          <a:p>
            <a:pPr algn="l"/>
            <a:r>
              <a:rPr sz="1050" b="0">
                <a:solidFill>
                  <a:srgbClr val="5A6066"/>
                </a:solidFill>
                <a:latin typeface="Arial"/>
              </a:rPr>
              <a:t>Sales = customers × units per customer × average price per unit</a:t>
            </a:r>
          </a:p>
        </p:txBody>
      </p:sp>
      <p:pic>
        <p:nvPicPr>
          <p:cNvPr id="4" name="Picture 3" descr="sales_drivers.png"/>
          <p:cNvPicPr>
            <a:picLocks noChangeAspect="1"/>
          </p:cNvPicPr>
          <p:nvPr/>
        </p:nvPicPr>
        <p:blipFill>
          <a:blip r:embed="rId3"/>
          <a:stretch>
            <a:fillRect/>
          </a:stretch>
        </p:blipFill>
        <p:spPr>
          <a:xfrm>
            <a:off x="777240" y="1280160"/>
            <a:ext cx="7196328" cy="4297680"/>
          </a:xfrm>
          <a:prstGeom prst="rect">
            <a:avLst/>
          </a:prstGeom>
        </p:spPr>
      </p:pic>
      <p:sp>
        <p:nvSpPr>
          <p:cNvPr id="5" name="Rounded Rectangle 4"/>
          <p:cNvSpPr/>
          <p:nvPr/>
        </p:nvSpPr>
        <p:spPr>
          <a:xfrm>
            <a:off x="8183879" y="1371600"/>
            <a:ext cx="2788920" cy="14173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83879" y="1371600"/>
            <a:ext cx="73152" cy="141732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5048" y="1527048"/>
            <a:ext cx="2441448" cy="384048"/>
          </a:xfrm>
          <a:prstGeom prst="rect">
            <a:avLst/>
          </a:prstGeom>
          <a:noFill/>
        </p:spPr>
        <p:txBody>
          <a:bodyPr wrap="square" anchor="t">
            <a:spAutoFit/>
          </a:bodyPr>
          <a:lstStyle/>
          <a:p>
            <a:pPr algn="l"/>
            <a:r>
              <a:rPr sz="1300" b="1">
                <a:solidFill>
                  <a:srgbClr val="2F6B8A"/>
                </a:solidFill>
                <a:latin typeface="Arial"/>
              </a:rPr>
              <a:t>Family volume</a:t>
            </a:r>
          </a:p>
        </p:txBody>
      </p:sp>
      <p:sp>
        <p:nvSpPr>
          <p:cNvPr id="8" name="TextBox 7"/>
          <p:cNvSpPr txBox="1"/>
          <p:nvPr/>
        </p:nvSpPr>
        <p:spPr>
          <a:xfrm>
            <a:off x="8385048" y="1965960"/>
            <a:ext cx="2441448" cy="704088"/>
          </a:xfrm>
          <a:prstGeom prst="rect">
            <a:avLst/>
          </a:prstGeom>
          <a:noFill/>
        </p:spPr>
        <p:txBody>
          <a:bodyPr wrap="square" anchor="t">
            <a:spAutoFit/>
          </a:bodyPr>
          <a:lstStyle/>
          <a:p>
            <a:pPr algn="l"/>
            <a:r>
              <a:rPr sz="1000" b="0">
                <a:solidFill>
                  <a:srgbClr val="5A6066"/>
                </a:solidFill>
                <a:latin typeface="Arial"/>
              </a:rPr>
              <a:t>Older and young families buy more units per customer—protect them with value and bundle mechanics.</a:t>
            </a:r>
          </a:p>
        </p:txBody>
      </p:sp>
      <p:sp>
        <p:nvSpPr>
          <p:cNvPr id="9" name="Rounded Rectangle 8"/>
          <p:cNvSpPr/>
          <p:nvPr/>
        </p:nvSpPr>
        <p:spPr>
          <a:xfrm>
            <a:off x="8183879" y="3063240"/>
            <a:ext cx="2788920" cy="14173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79" y="3063240"/>
            <a:ext cx="73152" cy="1417320"/>
          </a:xfrm>
          <a:prstGeom prst="rect">
            <a:avLst/>
          </a:prstGeom>
          <a:solidFill>
            <a:srgbClr val="007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8" y="3218688"/>
            <a:ext cx="2441448" cy="384048"/>
          </a:xfrm>
          <a:prstGeom prst="rect">
            <a:avLst/>
          </a:prstGeom>
          <a:noFill/>
        </p:spPr>
        <p:txBody>
          <a:bodyPr wrap="square" anchor="t">
            <a:spAutoFit/>
          </a:bodyPr>
          <a:lstStyle/>
          <a:p>
            <a:pPr algn="l"/>
            <a:r>
              <a:rPr sz="1300" b="1">
                <a:solidFill>
                  <a:srgbClr val="007A80"/>
                </a:solidFill>
                <a:latin typeface="Arial"/>
              </a:rPr>
              <a:t>Price resilience</a:t>
            </a:r>
          </a:p>
        </p:txBody>
      </p:sp>
      <p:sp>
        <p:nvSpPr>
          <p:cNvPr id="12" name="TextBox 11"/>
          <p:cNvSpPr txBox="1"/>
          <p:nvPr/>
        </p:nvSpPr>
        <p:spPr>
          <a:xfrm>
            <a:off x="8385048" y="3657600"/>
            <a:ext cx="2441448" cy="704088"/>
          </a:xfrm>
          <a:prstGeom prst="rect">
            <a:avLst/>
          </a:prstGeom>
          <a:noFill/>
        </p:spPr>
        <p:txBody>
          <a:bodyPr wrap="square" anchor="t">
            <a:spAutoFit/>
          </a:bodyPr>
          <a:lstStyle/>
          <a:p>
            <a:pPr algn="l"/>
            <a:r>
              <a:rPr sz="1000" b="0">
                <a:solidFill>
                  <a:srgbClr val="5A6066"/>
                </a:solidFill>
                <a:latin typeface="Arial"/>
              </a:rPr>
              <a:t>Mainstream young and mid-age singles/couples pay significantly more per unit (p &lt; 0.001).</a:t>
            </a:r>
          </a:p>
        </p:txBody>
      </p:sp>
      <p:sp>
        <p:nvSpPr>
          <p:cNvPr id="13" name="TextBox 12"/>
          <p:cNvSpPr txBox="1"/>
          <p:nvPr/>
        </p:nvSpPr>
        <p:spPr>
          <a:xfrm>
            <a:off x="8211312" y="4846320"/>
            <a:ext cx="2743200" cy="640080"/>
          </a:xfrm>
          <a:prstGeom prst="rect">
            <a:avLst/>
          </a:prstGeom>
          <a:noFill/>
        </p:spPr>
        <p:txBody>
          <a:bodyPr wrap="square" anchor="t">
            <a:spAutoFit/>
          </a:bodyPr>
          <a:lstStyle/>
          <a:p>
            <a:pPr algn="l"/>
            <a:r>
              <a:rPr sz="1100" b="1">
                <a:solidFill>
                  <a:srgbClr val="E67E22"/>
                </a:solidFill>
                <a:latin typeface="Arial"/>
              </a:rPr>
              <a:t>Commercial implication: target offers by mission; do not use a category-wide price cut.</a:t>
            </a: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9808" y="301752"/>
            <a:ext cx="10469880" cy="530352"/>
          </a:xfrm>
          <a:prstGeom prst="rect">
            <a:avLst/>
          </a:prstGeom>
          <a:noFill/>
        </p:spPr>
        <p:txBody>
          <a:bodyPr wrap="square" anchor="t">
            <a:spAutoFit/>
          </a:bodyPr>
          <a:lstStyle/>
          <a:p>
            <a:pPr algn="l"/>
            <a:r>
              <a:rPr sz="2500" b="1">
                <a:solidFill>
                  <a:srgbClr val="000000"/>
                </a:solidFill>
                <a:latin typeface="Arial"/>
              </a:rPr>
              <a:t>Tyrrells and Twisties are the strongest target-segment plays</a:t>
            </a:r>
          </a:p>
        </p:txBody>
      </p:sp>
      <p:sp>
        <p:nvSpPr>
          <p:cNvPr id="3" name="TextBox 2"/>
          <p:cNvSpPr txBox="1"/>
          <p:nvPr/>
        </p:nvSpPr>
        <p:spPr>
          <a:xfrm>
            <a:off x="758952" y="841248"/>
            <a:ext cx="10424160" cy="320040"/>
          </a:xfrm>
          <a:prstGeom prst="rect">
            <a:avLst/>
          </a:prstGeom>
          <a:noFill/>
        </p:spPr>
        <p:txBody>
          <a:bodyPr wrap="square" anchor="t">
            <a:spAutoFit/>
          </a:bodyPr>
          <a:lstStyle/>
          <a:p>
            <a:pPr algn="l"/>
            <a:r>
              <a:rPr sz="1050" b="0">
                <a:solidFill>
                  <a:srgbClr val="5A6066"/>
                </a:solidFill>
                <a:latin typeface="Arial"/>
              </a:rPr>
              <a:t>Affinity compares the target segment’s unit mix with all other chip buyers</a:t>
            </a:r>
          </a:p>
        </p:txBody>
      </p:sp>
      <p:pic>
        <p:nvPicPr>
          <p:cNvPr id="4" name="Picture 3" descr="target_affinity.png"/>
          <p:cNvPicPr>
            <a:picLocks noChangeAspect="1"/>
          </p:cNvPicPr>
          <p:nvPr/>
        </p:nvPicPr>
        <p:blipFill>
          <a:blip r:embed="rId3"/>
          <a:stretch>
            <a:fillRect/>
          </a:stretch>
        </p:blipFill>
        <p:spPr>
          <a:xfrm>
            <a:off x="868680" y="1234440"/>
            <a:ext cx="7086600" cy="4343400"/>
          </a:xfrm>
          <a:prstGeom prst="rect">
            <a:avLst/>
          </a:prstGeom>
        </p:spPr>
      </p:pic>
      <p:sp>
        <p:nvSpPr>
          <p:cNvPr id="5" name="Rounded Rectangle 4"/>
          <p:cNvSpPr/>
          <p:nvPr/>
        </p:nvSpPr>
        <p:spPr>
          <a:xfrm>
            <a:off x="8183879" y="1325880"/>
            <a:ext cx="2743200" cy="14173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83879" y="1325880"/>
            <a:ext cx="73152" cy="1417320"/>
          </a:xfrm>
          <a:prstGeom prst="rect">
            <a:avLst/>
          </a:prstGeom>
          <a:solidFill>
            <a:srgbClr val="007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5048" y="1481328"/>
            <a:ext cx="2395728" cy="384048"/>
          </a:xfrm>
          <a:prstGeom prst="rect">
            <a:avLst/>
          </a:prstGeom>
          <a:noFill/>
        </p:spPr>
        <p:txBody>
          <a:bodyPr wrap="square" anchor="t">
            <a:spAutoFit/>
          </a:bodyPr>
          <a:lstStyle/>
          <a:p>
            <a:pPr algn="l"/>
            <a:r>
              <a:rPr sz="1300" b="1">
                <a:solidFill>
                  <a:srgbClr val="007A80"/>
                </a:solidFill>
                <a:latin typeface="Arial"/>
              </a:rPr>
              <a:t>Brand activation</a:t>
            </a:r>
          </a:p>
        </p:txBody>
      </p:sp>
      <p:sp>
        <p:nvSpPr>
          <p:cNvPr id="8" name="TextBox 7"/>
          <p:cNvSpPr txBox="1"/>
          <p:nvPr/>
        </p:nvSpPr>
        <p:spPr>
          <a:xfrm>
            <a:off x="8385048" y="1920240"/>
            <a:ext cx="2395728" cy="704088"/>
          </a:xfrm>
          <a:prstGeom prst="rect">
            <a:avLst/>
          </a:prstGeom>
          <a:noFill/>
        </p:spPr>
        <p:txBody>
          <a:bodyPr wrap="square" anchor="t">
            <a:spAutoFit/>
          </a:bodyPr>
          <a:lstStyle/>
          <a:p>
            <a:pPr algn="l"/>
            <a:r>
              <a:rPr sz="1000" b="0">
                <a:solidFill>
                  <a:srgbClr val="5A6066"/>
                </a:solidFill>
                <a:latin typeface="Arial"/>
              </a:rPr>
              <a:t>Off-locate Tyrrells and Twisties in high-traffic discretionary space; keep price architecture premium.</a:t>
            </a:r>
          </a:p>
        </p:txBody>
      </p:sp>
      <p:sp>
        <p:nvSpPr>
          <p:cNvPr id="9" name="Rounded Rectangle 8"/>
          <p:cNvSpPr/>
          <p:nvPr/>
        </p:nvSpPr>
        <p:spPr>
          <a:xfrm>
            <a:off x="8183879" y="3063240"/>
            <a:ext cx="2743200" cy="141732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79" y="3063240"/>
            <a:ext cx="73152" cy="1417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8" y="3218688"/>
            <a:ext cx="2395728" cy="384048"/>
          </a:xfrm>
          <a:prstGeom prst="rect">
            <a:avLst/>
          </a:prstGeom>
          <a:noFill/>
        </p:spPr>
        <p:txBody>
          <a:bodyPr wrap="square" anchor="t">
            <a:spAutoFit/>
          </a:bodyPr>
          <a:lstStyle/>
          <a:p>
            <a:pPr algn="l"/>
            <a:r>
              <a:rPr sz="1300" b="1">
                <a:solidFill>
                  <a:srgbClr val="E67E22"/>
                </a:solidFill>
                <a:latin typeface="Arial"/>
              </a:rPr>
              <a:t>Pack-size caveat</a:t>
            </a:r>
          </a:p>
        </p:txBody>
      </p:sp>
      <p:sp>
        <p:nvSpPr>
          <p:cNvPr id="12" name="TextBox 11"/>
          <p:cNvSpPr txBox="1"/>
          <p:nvPr/>
        </p:nvSpPr>
        <p:spPr>
          <a:xfrm>
            <a:off x="8385048" y="3657600"/>
            <a:ext cx="2395728" cy="704088"/>
          </a:xfrm>
          <a:prstGeom prst="rect">
            <a:avLst/>
          </a:prstGeom>
          <a:noFill/>
        </p:spPr>
        <p:txBody>
          <a:bodyPr wrap="square" anchor="t">
            <a:spAutoFit/>
          </a:bodyPr>
          <a:lstStyle/>
          <a:p>
            <a:pPr algn="l"/>
            <a:r>
              <a:rPr sz="1000" b="0">
                <a:solidFill>
                  <a:srgbClr val="5A6066"/>
                </a:solidFill>
                <a:latin typeface="Arial"/>
              </a:rPr>
              <a:t>270g leads pack affinity, but only Twisties sells this size—do not generalise the effect to other brands.</a:t>
            </a:r>
          </a:p>
        </p:txBody>
      </p:sp>
      <p:sp>
        <p:nvSpPr>
          <p:cNvPr id="13" name="TextBox 12"/>
          <p:cNvSpPr txBox="1"/>
          <p:nvPr/>
        </p:nvSpPr>
        <p:spPr>
          <a:xfrm>
            <a:off x="8211312" y="4846320"/>
            <a:ext cx="2697480" cy="594360"/>
          </a:xfrm>
          <a:prstGeom prst="rect">
            <a:avLst/>
          </a:prstGeom>
          <a:noFill/>
        </p:spPr>
        <p:txBody>
          <a:bodyPr wrap="square" anchor="t">
            <a:spAutoFit/>
          </a:bodyPr>
          <a:lstStyle/>
          <a:p>
            <a:pPr algn="l"/>
            <a:r>
              <a:rPr sz="1100" b="1">
                <a:solidFill>
                  <a:srgbClr val="004E54"/>
                </a:solidFill>
                <a:latin typeface="Arial"/>
              </a:rPr>
              <a:t>Measure incremental units, margin and repeat purchase against matched controls.</a:t>
            </a: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9808" y="301752"/>
            <a:ext cx="10469880" cy="530352"/>
          </a:xfrm>
          <a:prstGeom prst="rect">
            <a:avLst/>
          </a:prstGeom>
          <a:noFill/>
        </p:spPr>
        <p:txBody>
          <a:bodyPr wrap="square" anchor="t">
            <a:spAutoFit/>
          </a:bodyPr>
          <a:lstStyle/>
          <a:p>
            <a:pPr algn="l"/>
            <a:r>
              <a:rPr sz="2500" b="1">
                <a:solidFill>
                  <a:srgbClr val="000000"/>
                </a:solidFill>
                <a:latin typeface="Arial"/>
              </a:rPr>
              <a:t>Matched controls isolate trial impact from normal variation</a:t>
            </a:r>
          </a:p>
        </p:txBody>
      </p:sp>
      <p:sp>
        <p:nvSpPr>
          <p:cNvPr id="3" name="TextBox 2"/>
          <p:cNvSpPr txBox="1"/>
          <p:nvPr/>
        </p:nvSpPr>
        <p:spPr>
          <a:xfrm>
            <a:off x="758952" y="841248"/>
            <a:ext cx="10424160" cy="320040"/>
          </a:xfrm>
          <a:prstGeom prst="rect">
            <a:avLst/>
          </a:prstGeom>
          <a:noFill/>
        </p:spPr>
        <p:txBody>
          <a:bodyPr wrap="square" anchor="t">
            <a:spAutoFit/>
          </a:bodyPr>
          <a:lstStyle/>
          <a:p>
            <a:pPr algn="l"/>
            <a:r>
              <a:rPr sz="1050" b="0">
                <a:solidFill>
                  <a:srgbClr val="5A6066"/>
                </a:solidFill>
                <a:latin typeface="Arial"/>
              </a:rPr>
              <a:t>Controls were selected on seven pre-trial months of sales and customer trends and scale</a:t>
            </a:r>
          </a:p>
        </p:txBody>
      </p:sp>
      <p:pic>
        <p:nvPicPr>
          <p:cNvPr id="4" name="Picture 3" descr="control_matches.png"/>
          <p:cNvPicPr>
            <a:picLocks noChangeAspect="1"/>
          </p:cNvPicPr>
          <p:nvPr/>
        </p:nvPicPr>
        <p:blipFill>
          <a:blip r:embed="rId3"/>
          <a:stretch>
            <a:fillRect/>
          </a:stretch>
        </p:blipFill>
        <p:spPr>
          <a:xfrm>
            <a:off x="868680" y="1417320"/>
            <a:ext cx="5943600" cy="3337560"/>
          </a:xfrm>
          <a:prstGeom prst="rect">
            <a:avLst/>
          </a:prstGeom>
        </p:spPr>
      </p:pic>
      <p:sp>
        <p:nvSpPr>
          <p:cNvPr id="5" name="Rounded Rectangle 4"/>
          <p:cNvSpPr/>
          <p:nvPr/>
        </p:nvSpPr>
        <p:spPr>
          <a:xfrm>
            <a:off x="7086600" y="1325880"/>
            <a:ext cx="3840480" cy="109728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86600" y="1325880"/>
            <a:ext cx="73152" cy="1097280"/>
          </a:xfrm>
          <a:prstGeom prst="rect">
            <a:avLst/>
          </a:prstGeom>
          <a:solidFill>
            <a:srgbClr val="007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87768" y="1481328"/>
            <a:ext cx="3493008" cy="384048"/>
          </a:xfrm>
          <a:prstGeom prst="rect">
            <a:avLst/>
          </a:prstGeom>
          <a:noFill/>
        </p:spPr>
        <p:txBody>
          <a:bodyPr wrap="square" anchor="t">
            <a:spAutoFit/>
          </a:bodyPr>
          <a:lstStyle/>
          <a:p>
            <a:pPr algn="l"/>
            <a:r>
              <a:rPr sz="1300" b="1">
                <a:solidFill>
                  <a:srgbClr val="007A80"/>
                </a:solidFill>
                <a:latin typeface="Arial"/>
              </a:rPr>
              <a:t>77 → 233</a:t>
            </a:r>
          </a:p>
        </p:txBody>
      </p:sp>
      <p:sp>
        <p:nvSpPr>
          <p:cNvPr id="8" name="TextBox 7"/>
          <p:cNvSpPr txBox="1"/>
          <p:nvPr/>
        </p:nvSpPr>
        <p:spPr>
          <a:xfrm>
            <a:off x="7287768" y="1920240"/>
            <a:ext cx="3493008" cy="384047"/>
          </a:xfrm>
          <a:prstGeom prst="rect">
            <a:avLst/>
          </a:prstGeom>
          <a:noFill/>
        </p:spPr>
        <p:txBody>
          <a:bodyPr wrap="square" anchor="t">
            <a:spAutoFit/>
          </a:bodyPr>
          <a:lstStyle/>
          <a:p>
            <a:pPr algn="l"/>
            <a:r>
              <a:rPr sz="1000" b="0">
                <a:solidFill>
                  <a:srgbClr val="5A6066"/>
                </a:solidFill>
                <a:latin typeface="Arial"/>
              </a:rPr>
              <a:t>Very strong match across sales and customer behaviour.</a:t>
            </a:r>
          </a:p>
        </p:txBody>
      </p:sp>
      <p:sp>
        <p:nvSpPr>
          <p:cNvPr id="9" name="Rounded Rectangle 8"/>
          <p:cNvSpPr/>
          <p:nvPr/>
        </p:nvSpPr>
        <p:spPr>
          <a:xfrm>
            <a:off x="7086600" y="2651760"/>
            <a:ext cx="3840480" cy="109728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86600" y="2651760"/>
            <a:ext cx="73152" cy="10972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87768" y="2807208"/>
            <a:ext cx="3493008" cy="384048"/>
          </a:xfrm>
          <a:prstGeom prst="rect">
            <a:avLst/>
          </a:prstGeom>
          <a:noFill/>
        </p:spPr>
        <p:txBody>
          <a:bodyPr wrap="square" anchor="t">
            <a:spAutoFit/>
          </a:bodyPr>
          <a:lstStyle/>
          <a:p>
            <a:pPr algn="l"/>
            <a:r>
              <a:rPr sz="1300" b="1">
                <a:solidFill>
                  <a:srgbClr val="2F6B8A"/>
                </a:solidFill>
                <a:latin typeface="Arial"/>
              </a:rPr>
              <a:t>86 → 155</a:t>
            </a:r>
          </a:p>
        </p:txBody>
      </p:sp>
      <p:sp>
        <p:nvSpPr>
          <p:cNvPr id="12" name="TextBox 11"/>
          <p:cNvSpPr txBox="1"/>
          <p:nvPr/>
        </p:nvSpPr>
        <p:spPr>
          <a:xfrm>
            <a:off x="7287768" y="3246120"/>
            <a:ext cx="3493008" cy="384047"/>
          </a:xfrm>
          <a:prstGeom prst="rect">
            <a:avLst/>
          </a:prstGeom>
          <a:noFill/>
        </p:spPr>
        <p:txBody>
          <a:bodyPr wrap="square" anchor="t">
            <a:spAutoFit/>
          </a:bodyPr>
          <a:lstStyle/>
          <a:p>
            <a:pPr algn="l"/>
            <a:r>
              <a:rPr sz="1000" b="0">
                <a:solidFill>
                  <a:srgbClr val="5A6066"/>
                </a:solidFill>
                <a:latin typeface="Arial"/>
              </a:rPr>
              <a:t>Strong match; suitable for diagnosing customer-versus-sales response.</a:t>
            </a:r>
          </a:p>
        </p:txBody>
      </p:sp>
      <p:sp>
        <p:nvSpPr>
          <p:cNvPr id="13" name="Rounded Rectangle 12"/>
          <p:cNvSpPr/>
          <p:nvPr/>
        </p:nvSpPr>
        <p:spPr>
          <a:xfrm>
            <a:off x="7086600" y="3977639"/>
            <a:ext cx="3840480" cy="1097280"/>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86600" y="3977639"/>
            <a:ext cx="73152" cy="10972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87768" y="4133087"/>
            <a:ext cx="3493008" cy="384048"/>
          </a:xfrm>
          <a:prstGeom prst="rect">
            <a:avLst/>
          </a:prstGeom>
          <a:noFill/>
        </p:spPr>
        <p:txBody>
          <a:bodyPr wrap="square" anchor="t">
            <a:spAutoFit/>
          </a:bodyPr>
          <a:lstStyle/>
          <a:p>
            <a:pPr algn="l"/>
            <a:r>
              <a:rPr sz="1300" b="1">
                <a:solidFill>
                  <a:srgbClr val="E67E22"/>
                </a:solidFill>
                <a:latin typeface="Arial"/>
              </a:rPr>
              <a:t>88 → 237</a:t>
            </a:r>
          </a:p>
        </p:txBody>
      </p:sp>
      <p:sp>
        <p:nvSpPr>
          <p:cNvPr id="16" name="TextBox 15"/>
          <p:cNvSpPr txBox="1"/>
          <p:nvPr/>
        </p:nvSpPr>
        <p:spPr>
          <a:xfrm>
            <a:off x="7287768" y="4572000"/>
            <a:ext cx="3493008" cy="384047"/>
          </a:xfrm>
          <a:prstGeom prst="rect">
            <a:avLst/>
          </a:prstGeom>
          <a:noFill/>
        </p:spPr>
        <p:txBody>
          <a:bodyPr wrap="square" anchor="t">
            <a:spAutoFit/>
          </a:bodyPr>
          <a:lstStyle/>
          <a:p>
            <a:pPr algn="l"/>
            <a:r>
              <a:rPr sz="1000" b="0">
                <a:solidFill>
                  <a:srgbClr val="5A6066"/>
                </a:solidFill>
                <a:latin typeface="Arial"/>
              </a:rPr>
              <a:t>Good match; remaining uncertainty is reflected in the rollout safeguards.</a:t>
            </a:r>
          </a:p>
        </p:txBody>
      </p:sp>
      <p:sp>
        <p:nvSpPr>
          <p:cNvPr id="17" name="TextBox 16"/>
          <p:cNvSpPr txBox="1"/>
          <p:nvPr/>
        </p:nvSpPr>
        <p:spPr>
          <a:xfrm>
            <a:off x="777240" y="5166360"/>
            <a:ext cx="9966960" cy="411480"/>
          </a:xfrm>
          <a:prstGeom prst="rect">
            <a:avLst/>
          </a:prstGeom>
          <a:noFill/>
        </p:spPr>
        <p:txBody>
          <a:bodyPr wrap="square" anchor="t">
            <a:spAutoFit/>
          </a:bodyPr>
          <a:lstStyle/>
          <a:p>
            <a:pPr algn="l"/>
            <a:r>
              <a:rPr sz="1000" b="0">
                <a:solidFill>
                  <a:srgbClr val="5A6066"/>
                </a:solidFill>
                <a:latin typeface="Arial"/>
              </a:rPr>
              <a:t>Method: equal-weight composite of Pearson correlation and month-normalised magnitude similarity.</a:t>
            </a: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9808" y="301752"/>
            <a:ext cx="10469880" cy="530352"/>
          </a:xfrm>
          <a:prstGeom prst="rect">
            <a:avLst/>
          </a:prstGeom>
          <a:noFill/>
        </p:spPr>
        <p:txBody>
          <a:bodyPr wrap="square" anchor="t">
            <a:spAutoFit/>
          </a:bodyPr>
          <a:lstStyle/>
          <a:p>
            <a:pPr algn="l"/>
            <a:r>
              <a:rPr sz="2500" b="1">
                <a:solidFill>
                  <a:srgbClr val="000000"/>
                </a:solidFill>
                <a:latin typeface="Arial"/>
              </a:rPr>
              <a:t>Roll out in stores like 77 and 88; investigate store 86 before retesting</a:t>
            </a:r>
          </a:p>
        </p:txBody>
      </p:sp>
      <p:sp>
        <p:nvSpPr>
          <p:cNvPr id="3" name="TextBox 2"/>
          <p:cNvSpPr txBox="1"/>
          <p:nvPr/>
        </p:nvSpPr>
        <p:spPr>
          <a:xfrm>
            <a:off x="758952" y="841248"/>
            <a:ext cx="10424160" cy="320040"/>
          </a:xfrm>
          <a:prstGeom prst="rect">
            <a:avLst/>
          </a:prstGeom>
          <a:noFill/>
        </p:spPr>
        <p:txBody>
          <a:bodyPr wrap="square" anchor="t">
            <a:spAutoFit/>
          </a:bodyPr>
          <a:lstStyle/>
          <a:p>
            <a:pPr algn="l"/>
            <a:r>
              <a:rPr sz="1050" b="0">
                <a:solidFill>
                  <a:srgbClr val="5A6066"/>
                </a:solidFill>
                <a:latin typeface="Arial"/>
              </a:rPr>
              <a:t>A successful store cleared statistical and commercial thresholds in at least two of three trial months</a:t>
            </a:r>
          </a:p>
        </p:txBody>
      </p:sp>
      <p:pic>
        <p:nvPicPr>
          <p:cNvPr id="4" name="Picture 3" descr="trial_uplift.png"/>
          <p:cNvPicPr>
            <a:picLocks noChangeAspect="1"/>
          </p:cNvPicPr>
          <p:nvPr/>
        </p:nvPicPr>
        <p:blipFill>
          <a:blip r:embed="rId3"/>
          <a:stretch>
            <a:fillRect/>
          </a:stretch>
        </p:blipFill>
        <p:spPr>
          <a:xfrm>
            <a:off x="777240" y="1325880"/>
            <a:ext cx="6537960" cy="4297680"/>
          </a:xfrm>
          <a:prstGeom prst="rect">
            <a:avLst/>
          </a:prstGeom>
        </p:spPr>
      </p:pic>
      <p:sp>
        <p:nvSpPr>
          <p:cNvPr id="5" name="Rounded Rectangle 4"/>
          <p:cNvSpPr/>
          <p:nvPr/>
        </p:nvSpPr>
        <p:spPr>
          <a:xfrm>
            <a:off x="7571231" y="1261872"/>
            <a:ext cx="3456432" cy="1170432"/>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71231" y="1261872"/>
            <a:ext cx="73152" cy="1170432"/>
          </a:xfrm>
          <a:prstGeom prst="rect">
            <a:avLst/>
          </a:prstGeom>
          <a:solidFill>
            <a:srgbClr val="277D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417319"/>
            <a:ext cx="3108960" cy="384048"/>
          </a:xfrm>
          <a:prstGeom prst="rect">
            <a:avLst/>
          </a:prstGeom>
          <a:noFill/>
        </p:spPr>
        <p:txBody>
          <a:bodyPr wrap="square" anchor="t">
            <a:spAutoFit/>
          </a:bodyPr>
          <a:lstStyle/>
          <a:p>
            <a:pPr algn="l"/>
            <a:r>
              <a:rPr sz="1300" b="1">
                <a:solidFill>
                  <a:srgbClr val="277D51"/>
                </a:solidFill>
                <a:latin typeface="Arial"/>
              </a:rPr>
              <a:t>Store 77 — ROLL OUT</a:t>
            </a:r>
          </a:p>
        </p:txBody>
      </p:sp>
      <p:sp>
        <p:nvSpPr>
          <p:cNvPr id="8" name="TextBox 7"/>
          <p:cNvSpPr txBox="1"/>
          <p:nvPr/>
        </p:nvSpPr>
        <p:spPr>
          <a:xfrm>
            <a:off x="7772400" y="1856231"/>
            <a:ext cx="3108960" cy="457200"/>
          </a:xfrm>
          <a:prstGeom prst="rect">
            <a:avLst/>
          </a:prstGeom>
          <a:noFill/>
        </p:spPr>
        <p:txBody>
          <a:bodyPr wrap="square" anchor="t">
            <a:spAutoFit/>
          </a:bodyPr>
          <a:lstStyle/>
          <a:p>
            <a:pPr algn="l"/>
            <a:r>
              <a:rPr sz="1000" b="0">
                <a:solidFill>
                  <a:srgbClr val="5A6066"/>
                </a:solidFill>
                <a:latin typeface="Arial"/>
              </a:rPr>
              <a:t>Sales +26%; customers +23%. Growth came from reach, not more transactions per shopper.</a:t>
            </a:r>
          </a:p>
        </p:txBody>
      </p:sp>
      <p:sp>
        <p:nvSpPr>
          <p:cNvPr id="9" name="Rounded Rectangle 8"/>
          <p:cNvSpPr/>
          <p:nvPr/>
        </p:nvSpPr>
        <p:spPr>
          <a:xfrm>
            <a:off x="7571231" y="2697480"/>
            <a:ext cx="3456432" cy="1170432"/>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71231" y="2697480"/>
            <a:ext cx="73152" cy="1170432"/>
          </a:xfrm>
          <a:prstGeom prst="rect">
            <a:avLst/>
          </a:prstGeom>
          <a:solidFill>
            <a:srgbClr val="B9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2852928"/>
            <a:ext cx="3108960" cy="384048"/>
          </a:xfrm>
          <a:prstGeom prst="rect">
            <a:avLst/>
          </a:prstGeom>
          <a:noFill/>
        </p:spPr>
        <p:txBody>
          <a:bodyPr wrap="square" anchor="t">
            <a:spAutoFit/>
          </a:bodyPr>
          <a:lstStyle/>
          <a:p>
            <a:pPr algn="l"/>
            <a:r>
              <a:rPr sz="1300" b="1">
                <a:solidFill>
                  <a:srgbClr val="B93737"/>
                </a:solidFill>
                <a:latin typeface="Arial"/>
              </a:rPr>
              <a:t>Store 86 — INVESTIGATE</a:t>
            </a:r>
          </a:p>
        </p:txBody>
      </p:sp>
      <p:sp>
        <p:nvSpPr>
          <p:cNvPr id="12" name="TextBox 11"/>
          <p:cNvSpPr txBox="1"/>
          <p:nvPr/>
        </p:nvSpPr>
        <p:spPr>
          <a:xfrm>
            <a:off x="7772400" y="3291840"/>
            <a:ext cx="3108960" cy="457200"/>
          </a:xfrm>
          <a:prstGeom prst="rect">
            <a:avLst/>
          </a:prstGeom>
          <a:noFill/>
        </p:spPr>
        <p:txBody>
          <a:bodyPr wrap="square" anchor="t">
            <a:spAutoFit/>
          </a:bodyPr>
          <a:lstStyle/>
          <a:p>
            <a:pPr algn="l"/>
            <a:r>
              <a:rPr sz="1000" b="0">
                <a:solidFill>
                  <a:srgbClr val="5A6066"/>
                </a:solidFill>
                <a:latin typeface="Arial"/>
              </a:rPr>
              <a:t>Customers +14% but sales were not consistently material. Check pricing, deals and execution.</a:t>
            </a:r>
          </a:p>
        </p:txBody>
      </p:sp>
      <p:sp>
        <p:nvSpPr>
          <p:cNvPr id="13" name="Rounded Rectangle 12"/>
          <p:cNvSpPr/>
          <p:nvPr/>
        </p:nvSpPr>
        <p:spPr>
          <a:xfrm>
            <a:off x="7571231" y="4133087"/>
            <a:ext cx="3456432" cy="1170432"/>
          </a:xfrm>
          <a:prstGeom prst="roundRect">
            <a:avLst/>
          </a:prstGeom>
          <a:solidFill>
            <a:srgbClr val="F1F4F6"/>
          </a:solidFill>
          <a:ln>
            <a:solidFill>
              <a:srgbClr val="DC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71231" y="4133087"/>
            <a:ext cx="73152" cy="1170432"/>
          </a:xfrm>
          <a:prstGeom prst="rect">
            <a:avLst/>
          </a:prstGeom>
          <a:solidFill>
            <a:srgbClr val="277D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4288536"/>
            <a:ext cx="3108960" cy="384048"/>
          </a:xfrm>
          <a:prstGeom prst="rect">
            <a:avLst/>
          </a:prstGeom>
          <a:noFill/>
        </p:spPr>
        <p:txBody>
          <a:bodyPr wrap="square" anchor="t">
            <a:spAutoFit/>
          </a:bodyPr>
          <a:lstStyle/>
          <a:p>
            <a:pPr algn="l"/>
            <a:r>
              <a:rPr sz="1300" b="1">
                <a:solidFill>
                  <a:srgbClr val="277D51"/>
                </a:solidFill>
                <a:latin typeface="Arial"/>
              </a:rPr>
              <a:t>Store 88 — ROLL OUT</a:t>
            </a:r>
          </a:p>
        </p:txBody>
      </p:sp>
      <p:sp>
        <p:nvSpPr>
          <p:cNvPr id="16" name="TextBox 15"/>
          <p:cNvSpPr txBox="1"/>
          <p:nvPr/>
        </p:nvSpPr>
        <p:spPr>
          <a:xfrm>
            <a:off x="7772400" y="4727448"/>
            <a:ext cx="3108960" cy="457200"/>
          </a:xfrm>
          <a:prstGeom prst="rect">
            <a:avLst/>
          </a:prstGeom>
          <a:noFill/>
        </p:spPr>
        <p:txBody>
          <a:bodyPr wrap="square" anchor="t">
            <a:spAutoFit/>
          </a:bodyPr>
          <a:lstStyle/>
          <a:p>
            <a:pPr algn="l"/>
            <a:r>
              <a:rPr sz="1000" b="0">
                <a:solidFill>
                  <a:srgbClr val="5A6066"/>
                </a:solidFill>
                <a:latin typeface="Arial"/>
              </a:rPr>
              <a:t>Sales +12%; customers +6%; transactions/customer +6%. Scale to similar stores with monitoring.</a:t>
            </a: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